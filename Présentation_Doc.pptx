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2026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33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7453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41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04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55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47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445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274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34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63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8BE6898-2B21-42C3-9E8B-666285D9413B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AA60A0-BDAA-4C94-8AA2-4BDE6CFE885C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78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F866F7-0D13-EAE1-1416-F7666758B2CB}"/>
              </a:ext>
            </a:extLst>
          </p:cNvPr>
          <p:cNvSpPr txBox="1"/>
          <p:nvPr/>
        </p:nvSpPr>
        <p:spPr>
          <a:xfrm>
            <a:off x="1383112" y="2394544"/>
            <a:ext cx="9425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Scaling Up Membership Inference: </a:t>
            </a:r>
          </a:p>
          <a:p>
            <a:r>
              <a:rPr lang="en-US" sz="2800" dirty="0"/>
              <a:t>When and How Attacks Succeed on Large Language Models</a:t>
            </a:r>
            <a:endParaRPr lang="fr-FR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9E56A1-5DA1-1F27-BED9-915FDAD3C2F5}"/>
              </a:ext>
            </a:extLst>
          </p:cNvPr>
          <p:cNvSpPr txBox="1"/>
          <p:nvPr/>
        </p:nvSpPr>
        <p:spPr>
          <a:xfrm>
            <a:off x="2461424" y="5012754"/>
            <a:ext cx="6703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Authors: Haritz Puerto, Martin Gubri, Sangdoo Yun, Seong Joon Oh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424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C2FA9C0-660A-42B5-7103-D16630F10BFE}"/>
              </a:ext>
            </a:extLst>
          </p:cNvPr>
          <p:cNvSpPr txBox="1"/>
          <p:nvPr/>
        </p:nvSpPr>
        <p:spPr>
          <a:xfrm>
            <a:off x="1383112" y="605214"/>
            <a:ext cx="942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1. Introduction </a:t>
            </a:r>
            <a:endParaRPr lang="fr-FR" sz="2800" u="sn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A8A6EE-574E-05DB-56B4-BDAC4AEB2F27}"/>
              </a:ext>
            </a:extLst>
          </p:cNvPr>
          <p:cNvSpPr txBox="1"/>
          <p:nvPr/>
        </p:nvSpPr>
        <p:spPr>
          <a:xfrm>
            <a:off x="872737" y="2368230"/>
            <a:ext cx="5223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MIA (Membership Inference Attacks) were considered ineffective against LLMs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studies on short sequences  : Low AUROC (50-60%)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authors' thesis: MIA is effective, but only on larger scale data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4533A8-04C9-BC3A-090D-FD0CC3BBE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110" y="1632133"/>
            <a:ext cx="3985778" cy="35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0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A423-298A-A527-5B36-AE2DA565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604D62C-FAAF-5A4D-D90A-F951F6E5BAAB}"/>
              </a:ext>
            </a:extLst>
          </p:cNvPr>
          <p:cNvSpPr txBox="1"/>
          <p:nvPr/>
        </p:nvSpPr>
        <p:spPr>
          <a:xfrm>
            <a:off x="1383112" y="585479"/>
            <a:ext cx="942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2. The Multi-Scale Protocol</a:t>
            </a:r>
            <a:endParaRPr lang="fr-FR" sz="2800" u="sn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AA90243-D502-6F74-43E7-6A1DCC2987D7}"/>
              </a:ext>
            </a:extLst>
          </p:cNvPr>
          <p:cNvSpPr txBox="1"/>
          <p:nvPr/>
        </p:nvSpPr>
        <p:spPr>
          <a:xfrm>
            <a:off x="826688" y="2967335"/>
            <a:ext cx="5223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Small </a:t>
            </a:r>
            <a:r>
              <a:rPr lang="fr-FR" dirty="0" err="1"/>
              <a:t>Scales</a:t>
            </a:r>
            <a:r>
              <a:rPr lang="fr-FR" dirty="0"/>
              <a:t> </a:t>
            </a:r>
            <a:r>
              <a:rPr lang="en-US" dirty="0"/>
              <a:t>: Sentence &amp; Paragraph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Larger Scales : Document &amp; </a:t>
            </a:r>
            <a:r>
              <a:rPr lang="en-US" dirty="0" err="1"/>
              <a:t>Colletion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E134F06-395E-89FC-49D6-FDE5B734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233" y="2443162"/>
            <a:ext cx="431482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6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C45C-003C-FF00-0324-43102ADA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E29749F-1F2C-9DA5-886E-63B25515446C}"/>
              </a:ext>
            </a:extLst>
          </p:cNvPr>
          <p:cNvSpPr txBox="1"/>
          <p:nvPr/>
        </p:nvSpPr>
        <p:spPr>
          <a:xfrm>
            <a:off x="1383112" y="559165"/>
            <a:ext cx="942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3. The Aggregation Method</a:t>
            </a:r>
            <a:endParaRPr lang="fr-FR" sz="2800" u="sn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1E8F745-E8A6-440D-93DD-B882D95849CE}"/>
              </a:ext>
            </a:extLst>
          </p:cNvPr>
          <p:cNvSpPr txBox="1"/>
          <p:nvPr/>
        </p:nvSpPr>
        <p:spPr>
          <a:xfrm>
            <a:off x="1121621" y="2274838"/>
            <a:ext cx="5223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Break document into small paragraphs.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2. Compute weak MIA scores for each paragraph.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3. Use Statistical Testing (t-test/U-test) to aggregate scores against a non-member baseline.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4E8970-065C-309C-B7DF-46D21BCDB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488" y="2895600"/>
            <a:ext cx="3200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2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35CC-6B71-F30C-4DA9-E69A407C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DFF57E9-E410-C867-B0D9-3FAF87089C5D}"/>
              </a:ext>
            </a:extLst>
          </p:cNvPr>
          <p:cNvSpPr txBox="1"/>
          <p:nvPr/>
        </p:nvSpPr>
        <p:spPr>
          <a:xfrm>
            <a:off x="3414230" y="355234"/>
            <a:ext cx="6414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4. Key Results and Compounding effect</a:t>
            </a:r>
            <a:endParaRPr lang="fr-FR" sz="2800" u="sn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8BB265-2907-626F-4F73-231C673123CD}"/>
              </a:ext>
            </a:extLst>
          </p:cNvPr>
          <p:cNvSpPr txBox="1"/>
          <p:nvPr/>
        </p:nvSpPr>
        <p:spPr>
          <a:xfrm>
            <a:off x="3869103" y="1189036"/>
            <a:ext cx="4453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Failure at Small Scale: 50-55% AUROC 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470311-FB2A-063E-BF0F-FAB61517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15" y="3231856"/>
            <a:ext cx="4453794" cy="25450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0BA68F-30FC-2C31-DB60-1F2FAD10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06" y="3508855"/>
            <a:ext cx="4326304" cy="223997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1CD9917-67DB-25EE-9A62-B0951A92BA94}"/>
              </a:ext>
            </a:extLst>
          </p:cNvPr>
          <p:cNvSpPr txBox="1"/>
          <p:nvPr/>
        </p:nvSpPr>
        <p:spPr>
          <a:xfrm>
            <a:off x="1515229" y="2842790"/>
            <a:ext cx="5223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Document-</a:t>
            </a:r>
            <a:r>
              <a:rPr lang="fr-FR" dirty="0" err="1"/>
              <a:t>level</a:t>
            </a:r>
            <a:r>
              <a:rPr lang="fr-FR" dirty="0"/>
              <a:t> MIA : 0.75 AUROC</a:t>
            </a:r>
            <a:br>
              <a:rPr lang="en-US" dirty="0"/>
            </a:b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8C5CB37-4653-5954-2B76-8E26CFDDCE38}"/>
              </a:ext>
            </a:extLst>
          </p:cNvPr>
          <p:cNvSpPr txBox="1"/>
          <p:nvPr/>
        </p:nvSpPr>
        <p:spPr>
          <a:xfrm>
            <a:off x="7126515" y="2816357"/>
            <a:ext cx="3635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Collection-level MIA : 0.94 AUROC.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33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5968-1E77-327E-9A32-F0992C70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11F0F57-F2A8-D42E-D6D3-50E5FC3B4D38}"/>
              </a:ext>
            </a:extLst>
          </p:cNvPr>
          <p:cNvSpPr txBox="1"/>
          <p:nvPr/>
        </p:nvSpPr>
        <p:spPr>
          <a:xfrm>
            <a:off x="3649273" y="394339"/>
            <a:ext cx="4893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5. Different training stages</a:t>
            </a:r>
            <a:endParaRPr lang="fr-FR" sz="2800" u="sn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2B052F3-48F9-5A29-CD62-AB6022D76226}"/>
              </a:ext>
            </a:extLst>
          </p:cNvPr>
          <p:cNvSpPr txBox="1"/>
          <p:nvPr/>
        </p:nvSpPr>
        <p:spPr>
          <a:xfrm>
            <a:off x="1127206" y="1515188"/>
            <a:ext cx="103600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question </a:t>
            </a:r>
            <a:r>
              <a:rPr lang="en-US" sz="2000" dirty="0"/>
              <a:t>: </a:t>
            </a:r>
            <a:r>
              <a:rPr lang="en-GB" dirty="0"/>
              <a:t>Does the efficacy of MIA change based on the specific stage of the model's training?</a:t>
            </a:r>
            <a:endParaRPr lang="fr-FR" dirty="0"/>
          </a:p>
          <a:p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6E519BC-68DA-F464-F873-C262B0DD9B03}"/>
              </a:ext>
            </a:extLst>
          </p:cNvPr>
          <p:cNvSpPr txBox="1"/>
          <p:nvPr/>
        </p:nvSpPr>
        <p:spPr>
          <a:xfrm>
            <a:off x="1127206" y="2955391"/>
            <a:ext cx="106810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motivation </a:t>
            </a:r>
            <a:r>
              <a:rPr lang="en-US" sz="2000" dirty="0"/>
              <a:t>: </a:t>
            </a:r>
            <a:r>
              <a:rPr lang="en-US" dirty="0"/>
              <a:t>Later stages (Continual Learning / End-Task Fine-Tuning) use smaller datasets, meaning each new data point has a more significant influence.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D5CC50-57EF-55EF-CF6D-49F51FDABF8A}"/>
              </a:ext>
            </a:extLst>
          </p:cNvPr>
          <p:cNvSpPr txBox="1"/>
          <p:nvPr/>
        </p:nvSpPr>
        <p:spPr>
          <a:xfrm>
            <a:off x="1127206" y="4534174"/>
            <a:ext cx="103600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Results</a:t>
            </a:r>
            <a:r>
              <a:rPr lang="en-GB" dirty="0"/>
              <a:t> : Performance for Collection MIA on continually trained and end-task fine-tuned models reached an AUROC of 0.997.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98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C1C2-6812-58AF-EE9A-8739BEC4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B596775-CF96-5C14-2501-00F605A6FB3B}"/>
              </a:ext>
            </a:extLst>
          </p:cNvPr>
          <p:cNvSpPr txBox="1"/>
          <p:nvPr/>
        </p:nvSpPr>
        <p:spPr>
          <a:xfrm>
            <a:off x="4541026" y="2177456"/>
            <a:ext cx="3109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Conclusion</a:t>
            </a:r>
            <a:endParaRPr lang="fr-FR" sz="4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96AA727-1ABF-033D-C88C-46D60D99613A}"/>
              </a:ext>
            </a:extLst>
          </p:cNvPr>
          <p:cNvSpPr txBox="1"/>
          <p:nvPr/>
        </p:nvSpPr>
        <p:spPr>
          <a:xfrm>
            <a:off x="2778011" y="3771781"/>
            <a:ext cx="6635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 summary presented by: Loan </a:t>
            </a:r>
            <a:r>
              <a:rPr lang="en-US" sz="2800" dirty="0" err="1"/>
              <a:t>Perrard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97859782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4e63df-1f37-4a2b-8b00-8c7ef780e2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22D0F6915A1643995A741A615CAF87" ma:contentTypeVersion="6" ma:contentTypeDescription="Crée un document." ma:contentTypeScope="" ma:versionID="4c473485692ea4c7fee1f8cc605a65c5">
  <xsd:schema xmlns:xsd="http://www.w3.org/2001/XMLSchema" xmlns:xs="http://www.w3.org/2001/XMLSchema" xmlns:p="http://schemas.microsoft.com/office/2006/metadata/properties" xmlns:ns3="794e63df-1f37-4a2b-8b00-8c7ef780e251" targetNamespace="http://schemas.microsoft.com/office/2006/metadata/properties" ma:root="true" ma:fieldsID="0ad7010a705c94869482bc2c8fc20b21" ns3:_="">
    <xsd:import namespace="794e63df-1f37-4a2b-8b00-8c7ef780e2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4e63df-1f37-4a2b-8b00-8c7ef780e2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1D398B-86B0-438D-A07E-BDD76E1D597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794e63df-1f37-4a2b-8b00-8c7ef780e251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46AD2F5-F2B1-44D7-B35B-68196BBE6D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6C1AEC-ADBA-4520-8567-DCFE9709EC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4e63df-1f37-4a2b-8b00-8c7ef780e2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386</TotalTime>
  <Words>234</Words>
  <Application>Microsoft Office PowerPoint</Application>
  <PresentationFormat>Grand écran</PresentationFormat>
  <Paragraphs>30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Franklin Gothic Book</vt:lpstr>
      <vt:lpstr>Cadrage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PERRARD LOAN</dc:creator>
  <cp:lastModifiedBy>Loan PERRARD</cp:lastModifiedBy>
  <cp:revision>1</cp:revision>
  <dcterms:created xsi:type="dcterms:W3CDTF">2025-11-07T08:40:06Z</dcterms:created>
  <dcterms:modified xsi:type="dcterms:W3CDTF">2025-11-19T13:17:21Z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0x010100B222D0F6915A1643995A741A615CAF87</vt:lpwstr>
  </property>
</Properties>
</file>